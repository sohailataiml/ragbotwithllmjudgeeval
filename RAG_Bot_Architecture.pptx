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RAG Bot Application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PDF Question Answering System</a:t>
            </a:r>
          </a:p>
          <a:p>
            <a:r>
              <a:t>Built with FastAPI, LangChain &amp; Claude Sonnet 4.5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Retrieval Augmented Generation</a:t>
            </a:r>
          </a:p>
          <a:p>
            <a:pPr>
              <a:defRPr sz="1600"/>
            </a:pPr>
            <a:r>
              <a:t>Combines document retrieval with AI generation</a:t>
            </a:r>
          </a:p>
          <a:p>
            <a:pPr>
              <a:defRPr sz="1600"/>
            </a:pPr>
            <a:r>
              <a:t>Provides accurate, source-backed answers</a:t>
            </a:r>
          </a:p>
          <a:p>
            <a:pPr>
              <a:defRPr sz="1600"/>
            </a:pPr>
            <a:r>
              <a:t>Reduces AI hallucinations</a:t>
            </a:r>
          </a:p>
          <a:p>
            <a:pPr>
              <a:defRPr sz="1600"/>
            </a:pPr>
            <a:r>
              <a:t>Works with your own documents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/>
            </a:pPr>
            <a:r>
              <a:t>Backend Framework</a:t>
            </a:r>
          </a:p>
          <a:p>
            <a:pPr lvl="1">
              <a:defRPr sz="1400"/>
            </a:pPr>
            <a:r>
              <a:t>FastAPI (REST API)</a:t>
            </a:r>
          </a:p>
          <a:p>
            <a:pPr lvl="1">
              <a:defRPr sz="1400"/>
            </a:pPr>
            <a:r>
              <a:t>Uvicorn (ASGI Server)</a:t>
            </a:r>
          </a:p>
          <a:p>
            <a:pPr lvl="1">
              <a:defRPr sz="1400"/>
            </a:pPr>
            <a:r>
              <a:t>Python 3.11</a:t>
            </a:r>
          </a:p>
          <a:p>
            <a:pPr>
              <a:defRPr b="1" sz="1800"/>
            </a:pPr>
            <a:r>
              <a:t>AI/ML Stack</a:t>
            </a:r>
          </a:p>
          <a:p>
            <a:pPr lvl="1">
              <a:defRPr sz="1400"/>
            </a:pPr>
            <a:r>
              <a:t>LangChain (RAG Framework)</a:t>
            </a:r>
          </a:p>
          <a:p>
            <a:pPr lvl="1">
              <a:defRPr sz="1400"/>
            </a:pPr>
            <a:r>
              <a:t>Claude Sonnet 4.5 (LLM)</a:t>
            </a:r>
          </a:p>
          <a:p>
            <a:pPr lvl="1">
              <a:defRPr sz="1400"/>
            </a:pPr>
            <a:r>
              <a:t>HuggingFace Embeddings</a:t>
            </a:r>
          </a:p>
          <a:p>
            <a:pPr lvl="1">
              <a:defRPr sz="1400"/>
            </a:pPr>
            <a:r>
              <a:t>PyTorch (CPU)</a:t>
            </a:r>
          </a:p>
          <a:p>
            <a:pPr lvl="1">
              <a:defRPr sz="1400"/>
            </a:pPr>
            <a:r>
              <a:t>ChromaDB (Vector Database)</a:t>
            </a:r>
          </a:p>
          <a:p>
            <a:pPr>
              <a:defRPr b="1" sz="1800"/>
            </a:pPr>
            <a:r>
              <a:t>Document Processing</a:t>
            </a:r>
          </a:p>
          <a:p>
            <a:pPr lvl="1">
              <a:defRPr sz="1400"/>
            </a:pPr>
            <a:r>
              <a:t>PyPDF (PDF Parser)</a:t>
            </a:r>
          </a:p>
          <a:p>
            <a:pPr lvl="1">
              <a:defRPr sz="1400"/>
            </a:pPr>
            <a:r>
              <a:t>RecursiveCharacterTextSplitter</a:t>
            </a:r>
          </a:p>
          <a:p>
            <a:pPr>
              <a:defRPr b="1" sz="1800"/>
            </a:pPr>
            <a:r>
              <a:t>Frontend</a:t>
            </a:r>
          </a:p>
          <a:p>
            <a:pPr lvl="1">
              <a:defRPr sz="1400"/>
            </a:pPr>
            <a:r>
              <a:t>HTML/CSS/JavaScript (Vanilla)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latin typeface="Courier New"/>
              </a:defRPr>
            </a:pPr>
          </a:p>
          <a:p>
            <a:r>
              <a:t>┌─────────────────┐</a:t>
            </a:r>
          </a:p>
          <a:p>
            <a:r>
              <a:t>│   Web Browser   │</a:t>
            </a:r>
          </a:p>
          <a:p>
            <a:r>
              <a:t>│   (Frontend)    │</a:t>
            </a:r>
          </a:p>
          <a:p>
            <a:r>
              <a:t>└────────┬────────┘</a:t>
            </a:r>
          </a:p>
          <a:p>
            <a:r>
              <a:t>         │ HTTP POST /query</a:t>
            </a:r>
          </a:p>
          <a:p>
            <a:r>
              <a:t>         ▼</a:t>
            </a:r>
          </a:p>
          <a:p>
            <a:r>
              <a:t>┌─────────────────────────┐</a:t>
            </a:r>
          </a:p>
          <a:p>
            <a:r>
              <a:t>│   FastAPI Server        │</a:t>
            </a:r>
          </a:p>
          <a:p>
            <a:r>
              <a:t>│   (Port 5173)          │</a:t>
            </a:r>
          </a:p>
          <a:p>
            <a:r>
              <a:t>└────────┬────────────────┘</a:t>
            </a:r>
          </a:p>
          <a:p>
            <a:r>
              <a:t>         │</a:t>
            </a:r>
          </a:p>
          <a:p>
            <a:r>
              <a:t>         ▼</a:t>
            </a:r>
          </a:p>
          <a:p>
            <a:r>
              <a:t>┌─────────────────────────────────┐</a:t>
            </a:r>
          </a:p>
          <a:p>
            <a:r>
              <a:t>│      RAG Pipeline               │</a:t>
            </a:r>
          </a:p>
          <a:p>
            <a:r>
              <a:t>│  ┌──────────────────────────┐  │</a:t>
            </a:r>
          </a:p>
          <a:p>
            <a:r>
              <a:t>│  │ 1. Query Embedding       │  │</a:t>
            </a:r>
          </a:p>
          <a:p>
            <a:r>
              <a:t>│  │    (HuggingFace)        │  │</a:t>
            </a:r>
          </a:p>
          <a:p>
            <a:r>
              <a:t>│  └──────────┬───────────────┘  │</a:t>
            </a:r>
          </a:p>
          <a:p>
            <a:r>
              <a:t>│             ▼                   │</a:t>
            </a:r>
          </a:p>
          <a:p>
            <a:r>
              <a:t>│  ┌──────────────────────────┐  │</a:t>
            </a:r>
          </a:p>
          <a:p>
            <a:r>
              <a:t>│  │ 2. Vector Search         │  │</a:t>
            </a:r>
          </a:p>
          <a:p>
            <a:r>
              <a:t>│  │    (ChromaDB)           │  │</a:t>
            </a:r>
          </a:p>
          <a:p>
            <a:r>
              <a:t>│  └──────────┬───────────────┘  │</a:t>
            </a:r>
          </a:p>
          <a:p>
            <a:r>
              <a:t>│             ▼                   │</a:t>
            </a:r>
          </a:p>
          <a:p>
            <a:r>
              <a:t>│  ┌──────────────────────────┐  │</a:t>
            </a:r>
          </a:p>
          <a:p>
            <a:r>
              <a:t>│  │ 3. LLM Generation        │  │</a:t>
            </a:r>
          </a:p>
          <a:p>
            <a:r>
              <a:t>│  │    (Claude Sonnet 4.5)  │  │</a:t>
            </a:r>
          </a:p>
          <a:p>
            <a:r>
              <a:t>│  └──────────┬───────────────┘  │</a:t>
            </a:r>
          </a:p>
          <a:p>
            <a:r>
              <a:t>│             ▼                   │</a:t>
            </a:r>
          </a:p>
          <a:p>
            <a:r>
              <a:t>│  ┌──────────────────────────┐  │</a:t>
            </a:r>
          </a:p>
          <a:p>
            <a:r>
              <a:t>│  │ 4. Answer + Sources      │  │</a:t>
            </a:r>
          </a:p>
          <a:p>
            <a:r>
              <a:t>│  └──────────────────────────┘  │</a:t>
            </a:r>
          </a:p>
          <a:p>
            <a:r>
              <a:t>└─────────────────────────────────┘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Startup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1. Load PDF Document - PyPDF reads the PDF file</a:t>
            </a:r>
          </a:p>
          <a:p>
            <a:pPr>
              <a:defRPr sz="1600"/>
            </a:pPr>
            <a:r>
              <a:t>2. Text Chunking - Split into 1000 character chunks with 200 overlap</a:t>
            </a:r>
          </a:p>
          <a:p>
            <a:pPr>
              <a:defRPr sz="1600"/>
            </a:pPr>
            <a:r>
              <a:t>3. Generate Embeddings - HuggingFace model converts text to vectors</a:t>
            </a:r>
          </a:p>
          <a:p>
            <a:pPr>
              <a:defRPr sz="1600"/>
            </a:pPr>
            <a:r>
              <a:t>4. Store in Vector Database - ChromaDB persists embeddings</a:t>
            </a:r>
          </a:p>
          <a:p>
            <a:pPr>
              <a:defRPr sz="1600"/>
            </a:pPr>
            <a:r>
              <a:t>5. Initialize RAG Chain - LangChain LCEL pipeline 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Flow (Step-by-Step)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1. User Input: User types question in browser</a:t>
            </a:r>
          </a:p>
          <a:p>
            <a:pPr>
              <a:defRPr sz="1600"/>
            </a:pPr>
            <a:r>
              <a:t>2. API Call: POST request to /query endpoint</a:t>
            </a:r>
          </a:p>
          <a:p>
            <a:pPr>
              <a:defRPr sz="1600"/>
            </a:pPr>
            <a:r>
              <a:t>3. Embed Query: Convert question to vector embedding</a:t>
            </a:r>
          </a:p>
          <a:p>
            <a:pPr>
              <a:defRPr sz="1600"/>
            </a:pPr>
            <a:r>
              <a:t>4. Vector Search: Find 3 most relevant document chunks</a:t>
            </a:r>
          </a:p>
          <a:p>
            <a:pPr>
              <a:defRPr sz="1600"/>
            </a:pPr>
            <a:r>
              <a:t>5. Build Context: Combine chunks with question in prompt</a:t>
            </a:r>
          </a:p>
          <a:p>
            <a:pPr>
              <a:defRPr sz="1600"/>
            </a:pPr>
            <a:r>
              <a:t>6. LLM Generation: Claude Sonnet 4.5 generates answer</a:t>
            </a:r>
          </a:p>
          <a:p>
            <a:pPr>
              <a:defRPr sz="1600"/>
            </a:pPr>
            <a:r>
              <a:t>7. Return Response: Answer + source citations to user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Total time: ~2-3 seconds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Pipeline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800"/>
            </a:pPr>
            <a:r>
              <a:t>Retrieval Phase</a:t>
            </a:r>
          </a:p>
          <a:p>
            <a:pPr lvl="1">
              <a:defRPr sz="1400"/>
            </a:pPr>
            <a:r>
              <a:t>User query → Embedding model</a:t>
            </a:r>
          </a:p>
          <a:p>
            <a:pPr lvl="1">
              <a:defRPr sz="1400"/>
            </a:pPr>
            <a:r>
              <a:t>Semantic search in ChromaDB</a:t>
            </a:r>
          </a:p>
          <a:p>
            <a:pPr lvl="1">
              <a:defRPr sz="1400"/>
            </a:pPr>
            <a:r>
              <a:t>Top 3 relevant chunks retrieved</a:t>
            </a:r>
          </a:p>
          <a:p>
            <a:pPr lvl="1">
              <a:defRPr sz="1400"/>
            </a:pPr>
            <a:r>
              <a:t>Each chunk ~1000 characters</a:t>
            </a:r>
          </a:p>
          <a:p>
            <a:pPr>
              <a:defRPr b="1" sz="1800"/>
            </a:pPr>
            <a:r>
              <a:t>Generation Phase</a:t>
            </a:r>
          </a:p>
          <a:p>
            <a:pPr lvl="1">
              <a:defRPr sz="1400"/>
            </a:pPr>
            <a:r>
              <a:t>Prompt template with context</a:t>
            </a:r>
          </a:p>
          <a:p>
            <a:pPr lvl="1">
              <a:defRPr sz="1400"/>
            </a:pPr>
            <a:r>
              <a:t>Claude Sonnet 4.5 processes</a:t>
            </a:r>
          </a:p>
          <a:p>
            <a:pPr lvl="1">
              <a:defRPr sz="1400"/>
            </a:pPr>
            <a:r>
              <a:t>Structured response with 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/>
            </a:pPr>
            <a:r>
              <a:t>FastAPI Server</a:t>
            </a:r>
          </a:p>
          <a:p>
            <a:pPr lvl="1">
              <a:defRPr sz="1300"/>
            </a:pPr>
            <a:r>
              <a:t>Serves frontend HTML</a:t>
            </a:r>
          </a:p>
          <a:p>
            <a:pPr lvl="1">
              <a:defRPr sz="1300"/>
            </a:pPr>
            <a:r>
              <a:t>Processes questions</a:t>
            </a:r>
          </a:p>
          <a:p>
            <a:pPr lvl="1">
              <a:defRPr sz="1300"/>
            </a:pPr>
            <a:r>
              <a:t>Health check endpoint</a:t>
            </a:r>
          </a:p>
          <a:p>
            <a:pPr lvl="1">
              <a:defRPr sz="1300"/>
            </a:pPr>
            <a:r>
              <a:t>CORS enabled</a:t>
            </a:r>
          </a:p>
          <a:p>
            <a:pPr>
              <a:defRPr b="1" sz="1600"/>
            </a:pPr>
            <a:r>
              <a:t>Vector Database (ChromaDB)</a:t>
            </a:r>
          </a:p>
          <a:p>
            <a:pPr lvl="1">
              <a:defRPr sz="1300"/>
            </a:pPr>
            <a:r>
              <a:t>Stores document embeddings</a:t>
            </a:r>
          </a:p>
          <a:p>
            <a:pPr lvl="1">
              <a:defRPr sz="1300"/>
            </a:pPr>
            <a:r>
              <a:t>Fast similarity search</a:t>
            </a:r>
          </a:p>
          <a:p>
            <a:pPr lvl="1">
              <a:defRPr sz="1300"/>
            </a:pPr>
            <a:r>
              <a:t>Automatic indexing</a:t>
            </a:r>
          </a:p>
          <a:p>
            <a:pPr>
              <a:defRPr b="1" sz="1600"/>
            </a:pPr>
            <a:r>
              <a:t>LLM Integration</a:t>
            </a:r>
          </a:p>
          <a:p>
            <a:pPr lvl="1">
              <a:defRPr sz="1300"/>
            </a:pPr>
            <a:r>
              <a:t>Claude Sonnet 4.5</a:t>
            </a:r>
          </a:p>
          <a:p>
            <a:pPr lvl="1">
              <a:defRPr sz="1300"/>
            </a:pPr>
            <a:r>
              <a:t>Temperature: 0 (deterministic)</a:t>
            </a:r>
          </a:p>
          <a:p>
            <a:pPr lvl="1">
              <a:defRPr sz="1300"/>
            </a:pPr>
            <a:r>
              <a:t>Source attribution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Why Embeddings?</a:t>
            </a:r>
          </a:p>
          <a:p>
            <a:pPr>
              <a:defRPr sz="1600"/>
            </a:pPr>
            <a:r>
              <a:t>  • Convert text to numerical vectors</a:t>
            </a:r>
          </a:p>
          <a:p>
            <a:pPr>
              <a:defRPr sz="1600"/>
            </a:pPr>
            <a:r>
              <a:t>  • Capture semantic meaning</a:t>
            </a:r>
          </a:p>
          <a:p>
            <a:pPr>
              <a:defRPr sz="1600"/>
            </a:pPr>
            <a:r>
              <a:t>  • Enable similarity search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Our Setup:</a:t>
            </a:r>
          </a:p>
          <a:p>
            <a:pPr>
              <a:defRPr sz="1600"/>
            </a:pPr>
            <a:r>
              <a:t>  • Model: all-MiniLM-L6-v2</a:t>
            </a:r>
          </a:p>
          <a:p>
            <a:pPr>
              <a:defRPr sz="1600"/>
            </a:pPr>
            <a:r>
              <a:t>  • Dimension: 384</a:t>
            </a:r>
          </a:p>
          <a:p>
            <a:pPr>
              <a:defRPr sz="1600"/>
            </a:pPr>
            <a:r>
              <a:t>  • Local (no API calls)</a:t>
            </a:r>
          </a:p>
          <a:p>
            <a:pPr>
              <a:defRPr sz="1600"/>
            </a:pPr>
            <a:r>
              <a:t>  • CPU-optimized</a:t>
            </a:r>
          </a:p>
          <a:p>
            <a:pPr>
              <a:defRPr sz="1600"/>
            </a:pPr>
            <a:r>
              <a:t>  • Fast inference (~50ms)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Pure JavaScript Implementation</a:t>
            </a:r>
          </a:p>
          <a:p>
            <a:pPr>
              <a:defRPr sz="1600"/>
            </a:pPr>
            <a:r>
              <a:t>  • No frameworks (React, Vue, etc.)</a:t>
            </a:r>
          </a:p>
          <a:p>
            <a:pPr>
              <a:defRPr sz="1600"/>
            </a:pPr>
            <a:r>
              <a:t>  • Vanilla JS for API calls</a:t>
            </a:r>
          </a:p>
          <a:p>
            <a:pPr>
              <a:defRPr sz="1600"/>
            </a:pPr>
            <a:r>
              <a:t>  • Real-time chat interface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Features:</a:t>
            </a:r>
          </a:p>
          <a:p>
            <a:pPr>
              <a:defRPr sz="1600"/>
            </a:pPr>
            <a:r>
              <a:t>  • Health check polling</a:t>
            </a:r>
          </a:p>
          <a:p>
            <a:pPr>
              <a:defRPr sz="1600"/>
            </a:pPr>
            <a:r>
              <a:t>  • Loading animations</a:t>
            </a:r>
          </a:p>
          <a:p>
            <a:pPr>
              <a:defRPr sz="1600"/>
            </a:pPr>
            <a:r>
              <a:t>  • Source citations display</a:t>
            </a:r>
          </a:p>
          <a:p>
            <a:pPr>
              <a:defRPr sz="1600"/>
            </a:pPr>
            <a:r>
              <a:t>  • Responsive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PDF Document</a:t>
            </a:r>
          </a:p>
          <a:p>
            <a:r>
              <a:t>    ↓</a:t>
            </a:r>
          </a:p>
          <a:p>
            <a:r>
              <a:t>[Text Extraction]</a:t>
            </a:r>
          </a:p>
          <a:p>
            <a:r>
              <a:t>    ↓</a:t>
            </a:r>
          </a:p>
          <a:p>
            <a:r>
              <a:t>Text Chunks (1000 chars)</a:t>
            </a:r>
          </a:p>
          <a:p>
            <a:r>
              <a:t>    ↓</a:t>
            </a:r>
          </a:p>
          <a:p>
            <a:r>
              <a:t>[Embedding Model]</a:t>
            </a:r>
          </a:p>
          <a:p>
            <a:r>
              <a:t>    ↓</a:t>
            </a:r>
          </a:p>
          <a:p>
            <a:r>
              <a:t>Vector Embeddings (384-dim)</a:t>
            </a:r>
          </a:p>
          <a:p>
            <a:r>
              <a:t>    ↓</a:t>
            </a:r>
          </a:p>
          <a:p>
            <a:r>
              <a:t>[ChromaDB Storage]</a:t>
            </a:r>
          </a:p>
          <a:p>
            <a:r>
              <a:t>    ↓</a:t>
            </a:r>
          </a:p>
          <a:p>
            <a:r>
              <a:t>Indexed &amp; Searchable</a:t>
            </a:r>
          </a:p>
          <a:p>
            <a:r>
              <a:t>    ↓</a:t>
            </a:r>
          </a:p>
          <a:p>
            <a:r>
              <a:t>[Query: Semantic Search]</a:t>
            </a:r>
          </a:p>
          <a:p>
            <a:r>
              <a:t>    ↓</a:t>
            </a:r>
          </a:p>
          <a:p>
            <a:r>
              <a:t>Relevant Context</a:t>
            </a:r>
          </a:p>
          <a:p>
            <a:r>
              <a:t>    ↓</a:t>
            </a:r>
          </a:p>
          <a:p>
            <a:r>
              <a:t>[Claude Sonnet 4.5]</a:t>
            </a:r>
          </a:p>
          <a:p>
            <a:r>
              <a:t>    ↓</a:t>
            </a:r>
          </a:p>
          <a:p>
            <a:r>
              <a:t>Final Answer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/rag-bot/</a:t>
            </a:r>
          </a:p>
          <a:p>
            <a:r>
              <a:t>├── main.py                 # FastAPI app &amp; RAG logic</a:t>
            </a:r>
          </a:p>
          <a:p>
            <a:r>
              <a:t>├── index.html             # Frontend UI</a:t>
            </a:r>
          </a:p>
          <a:p>
            <a:r>
              <a:t>├── start.sh               # Startup script</a:t>
            </a:r>
          </a:p>
          <a:p>
            <a:r>
              <a:t>├── .env                   # API keys (Anthropic)</a:t>
            </a:r>
          </a:p>
          <a:p>
            <a:r>
              <a:t>├── requirements.txt       # Dependencies</a:t>
            </a:r>
          </a:p>
          <a:p>
            <a:r>
              <a:t>├── ProteinEfficiency...pdf # Source document</a:t>
            </a:r>
          </a:p>
          <a:p>
            <a:r>
              <a:t>├── chroma_db/             # Vector DB storage</a:t>
            </a:r>
          </a:p>
          <a:p>
            <a:r>
              <a:t>└── venv/                  # Python environment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✓ No OpenAI Dependency</a:t>
            </a:r>
          </a:p>
          <a:p>
            <a:pPr>
              <a:defRPr sz="1600"/>
            </a:pPr>
            <a:r>
              <a:t>  • Uses only Anthropic Claude</a:t>
            </a:r>
          </a:p>
          <a:p>
            <a:pPr>
              <a:defRPr sz="1600"/>
            </a:pPr>
            <a:r>
              <a:t>  • Cost-effective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✓ Local Embeddings</a:t>
            </a:r>
          </a:p>
          <a:p>
            <a:pPr>
              <a:defRPr sz="1600"/>
            </a:pPr>
            <a:r>
              <a:t>  • HuggingFace (no API costs)</a:t>
            </a:r>
          </a:p>
          <a:p>
            <a:pPr>
              <a:defRPr sz="1600"/>
            </a:pPr>
            <a:r>
              <a:t>  • Privacy-friendly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✓ Persistent Storage</a:t>
            </a:r>
          </a:p>
          <a:p>
            <a:pPr>
              <a:defRPr sz="1600"/>
            </a:pPr>
            <a:r>
              <a:t>  • ChromaDB saves indexed data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✓ Source Citations</a:t>
            </a:r>
          </a:p>
          <a:p>
            <a:pPr>
              <a:defRPr sz="1600"/>
            </a:pPr>
            <a:r>
              <a:t>  • Shows which PDF sections used</a:t>
            </a:r>
          </a:p>
          <a:p>
            <a:pPr>
              <a:defRPr sz="1600"/>
            </a:pPr>
            <a:r>
              <a:t>  • Transparent &amp; verifiable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1600"/>
            </a:pPr>
            <a:r>
              <a:t>Performance</a:t>
            </a:r>
          </a:p>
          <a:p>
            <a:pPr lvl="1">
              <a:defRPr sz="1300"/>
            </a:pPr>
            <a:r>
              <a:t>Response time: 2-3 seconds</a:t>
            </a:r>
          </a:p>
          <a:p>
            <a:pPr lvl="1">
              <a:defRPr sz="1300"/>
            </a:pPr>
            <a:r>
              <a:t>Local embeddings</a:t>
            </a:r>
          </a:p>
          <a:p>
            <a:pPr lvl="1">
              <a:defRPr sz="1300"/>
            </a:pPr>
            <a:r>
              <a:t>Efficient vector search</a:t>
            </a:r>
          </a:p>
          <a:p>
            <a:pPr>
              <a:defRPr b="1" sz="1600"/>
            </a:pPr>
            <a:r>
              <a:t>Scalability</a:t>
            </a:r>
          </a:p>
          <a:p>
            <a:pPr lvl="1">
              <a:defRPr sz="1300"/>
            </a:pPr>
            <a:r>
              <a:t>Multiple PDFs support</a:t>
            </a:r>
          </a:p>
          <a:p>
            <a:pPr lvl="1">
              <a:defRPr sz="1300"/>
            </a:pPr>
            <a:r>
              <a:t>Persistent storage</a:t>
            </a:r>
          </a:p>
          <a:p>
            <a:pPr lvl="1">
              <a:defRPr sz="1300"/>
            </a:pPr>
            <a:r>
              <a:t>Stateless API</a:t>
            </a:r>
          </a:p>
          <a:p>
            <a:pPr>
              <a:defRPr b="1" sz="1600"/>
            </a:pPr>
            <a:r>
              <a:t>Accuracy</a:t>
            </a:r>
          </a:p>
          <a:p>
            <a:pPr lvl="1">
              <a:defRPr sz="1300"/>
            </a:pPr>
            <a:r>
              <a:t>Context-aware answers</a:t>
            </a:r>
          </a:p>
          <a:p>
            <a:pPr lvl="1">
              <a:defRPr sz="1300"/>
            </a:pPr>
            <a:r>
              <a:t>Source attribution</a:t>
            </a:r>
          </a:p>
          <a:p>
            <a:pPr lvl="1">
              <a:defRPr sz="1300"/>
            </a:pPr>
            <a:r>
              <a:t>Reduced hallucinations</a:t>
            </a:r>
          </a:p>
          <a:p>
            <a:pPr>
              <a:defRPr b="1" sz="1600"/>
            </a:pPr>
            <a:r>
              <a:t>Cost</a:t>
            </a:r>
          </a:p>
          <a:p>
            <a:pPr lvl="1">
              <a:defRPr sz="1300"/>
            </a:pPr>
            <a:r>
              <a:t>Only LLM calls cost money</a:t>
            </a:r>
          </a:p>
          <a:p>
            <a:pPr lvl="1">
              <a:defRPr sz="1300"/>
            </a:pPr>
            <a:r>
              <a:t>Free local embeddings</a:t>
            </a:r>
          </a:p>
          <a:p>
            <a:pPr lvl="1">
              <a:defRPr sz="1300"/>
            </a:pPr>
            <a:r>
              <a:t>Open-source stack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Document Q&amp;A</a:t>
            </a:r>
          </a:p>
          <a:p>
            <a:pPr>
              <a:defRPr sz="1600"/>
            </a:pPr>
            <a:r>
              <a:t>  • Technical documentation</a:t>
            </a:r>
          </a:p>
          <a:p>
            <a:pPr>
              <a:defRPr sz="1600"/>
            </a:pPr>
            <a:r>
              <a:t>  • Research papers</a:t>
            </a:r>
          </a:p>
          <a:p>
            <a:pPr>
              <a:defRPr sz="1600"/>
            </a:pPr>
            <a:r>
              <a:t>  • Legal documents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Knowledge Base</a:t>
            </a:r>
          </a:p>
          <a:p>
            <a:pPr>
              <a:defRPr sz="1600"/>
            </a:pPr>
            <a:r>
              <a:t>  • Company policies</a:t>
            </a:r>
          </a:p>
          <a:p>
            <a:pPr>
              <a:defRPr sz="1600"/>
            </a:pPr>
            <a:r>
              <a:t>  • Product information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Research Assistant</a:t>
            </a:r>
          </a:p>
          <a:p>
            <a:pPr>
              <a:defRPr sz="1600"/>
            </a:pPr>
            <a:r>
              <a:t>  • Literature review</a:t>
            </a:r>
          </a:p>
          <a:p>
            <a:pPr>
              <a:defRPr sz="1600"/>
            </a:pPr>
            <a:r>
              <a:t>  • Citation finding</a:t>
            </a:r>
          </a:p>
          <a:p>
            <a:pPr>
              <a:defRPr sz="1600"/>
            </a:pPr>
            <a:r>
              <a:t>  • Fact checking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Startup Time:</a:t>
            </a:r>
          </a:p>
          <a:p>
            <a:pPr>
              <a:defRPr sz="1600"/>
            </a:pPr>
            <a:r>
              <a:t>  • First run: ~30 seconds</a:t>
            </a:r>
          </a:p>
          <a:p>
            <a:pPr>
              <a:defRPr sz="1600"/>
            </a:pPr>
            <a:r>
              <a:t>  • Subsequent: ~5 seconds</a:t>
            </a:r>
          </a:p>
          <a:p>
            <a:pPr>
              <a:defRPr sz="1600"/>
            </a:pPr>
            <a:r>
              <a:t>  • PDF indexing: ~10-20 seconds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Query Performance:</a:t>
            </a:r>
          </a:p>
          <a:p>
            <a:pPr>
              <a:defRPr sz="1600"/>
            </a:pPr>
            <a:r>
              <a:t>  • Embedding: ~50ms</a:t>
            </a:r>
          </a:p>
          <a:p>
            <a:pPr>
              <a:defRPr sz="1600"/>
            </a:pPr>
            <a:r>
              <a:t>  • Vector search: ~10ms</a:t>
            </a:r>
          </a:p>
          <a:p>
            <a:pPr>
              <a:defRPr sz="1600"/>
            </a:pPr>
            <a:r>
              <a:t>  • LLM generation: 2-3 seconds</a:t>
            </a:r>
          </a:p>
          <a:p>
            <a:pPr>
              <a:defRPr sz="1600"/>
            </a:pPr>
            <a:r>
              <a:t>  • Total: ~2-3 seconds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Multi-document support</a:t>
            </a:r>
          </a:p>
          <a:p>
            <a:pPr>
              <a:defRPr sz="1600"/>
            </a:pPr>
            <a:r>
              <a:t>File upload interface</a:t>
            </a:r>
          </a:p>
          <a:p>
            <a:pPr>
              <a:defRPr sz="1600"/>
            </a:pPr>
            <a:r>
              <a:t>Chat history persistence</a:t>
            </a:r>
          </a:p>
          <a:p>
            <a:pPr>
              <a:defRPr sz="1600"/>
            </a:pPr>
            <a:r>
              <a:t>User authentication</a:t>
            </a:r>
          </a:p>
          <a:p>
            <a:pPr>
              <a:defRPr sz="1600"/>
            </a:pPr>
            <a:r>
              <a:t>Response streaming</a:t>
            </a:r>
          </a:p>
          <a:p>
            <a:pPr>
              <a:defRPr sz="1600"/>
            </a:pPr>
            <a:r>
              <a:t>Custom embedding models</a:t>
            </a:r>
          </a:p>
          <a:p>
            <a:pPr>
              <a:defRPr sz="1600"/>
            </a:pPr>
            <a:r>
              <a:t>PDF highlighting</a:t>
            </a:r>
          </a:p>
          <a:p>
            <a:pPr>
              <a:defRPr sz="1600"/>
            </a:pPr>
            <a:r>
              <a:t>Export conversations</a:t>
            </a:r>
          </a:p>
          <a:p>
            <a:pPr>
              <a:defRPr sz="1600"/>
            </a:pPr>
            <a:r>
              <a:t>Advanced filtering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Demo: http://localhost:5173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